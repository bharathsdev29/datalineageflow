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BharathsDev29/dataLineageFlow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2286000"/>
            <a:ext cx="5486400" cy="5486400"/>
          </a:xfrm>
          <a:prstGeom prst="ellipse">
            <a:avLst/>
          </a:prstGeom>
          <a:solidFill>
            <a:srgbClr val="3B82F6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EC4899">
              <a:alpha val="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 Flow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4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Custom Visual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data pipelines with interactive lineage tracing,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monitoring, and real-time metadata insights.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4023360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8B5CF6">
              <a:alpha val="20000"/>
            </a:srgbClr>
          </a:solidFill>
          <a:ln w="635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0233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v6.1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Bharath 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DataLineageFlow?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BI custom visual that maps how data flows from sources through transformations to final reports — showing every connection, health status, and refresh state at a glance.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2560320" cy="1417320"/>
          </a:xfrm>
          <a:prstGeom prst="rect">
            <a:avLst/>
          </a:prstGeom>
          <a:solidFill>
            <a:srgbClr val="1E1940"/>
          </a:solidFill>
          <a:ln w="6350">
            <a:solidFill>
              <a:srgbClr val="8B5CF6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103120"/>
            <a:ext cx="256032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677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Tracing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node to trace its full upstream &amp; downstream path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20440" y="2103120"/>
            <a:ext cx="2560320" cy="1417320"/>
          </a:xfrm>
          <a:prstGeom prst="rect">
            <a:avLst/>
          </a:prstGeom>
          <a:solidFill>
            <a:srgbClr val="1E1940"/>
          </a:solidFill>
          <a:ln w="6350">
            <a:solidFill>
              <a:srgbClr val="22C55E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0440" y="2103120"/>
            <a:ext cx="256032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22677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💚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5760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Monitoring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Green, yellow, red indicators on every node and in headers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2103120"/>
            <a:ext cx="2560320" cy="1417320"/>
          </a:xfrm>
          <a:prstGeom prst="rect">
            <a:avLst/>
          </a:prstGeom>
          <a:solidFill>
            <a:srgbClr val="1E1940"/>
          </a:solidFill>
          <a:ln w="6350">
            <a:solidFill>
              <a:srgbClr val="3B82F6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2103120"/>
            <a:ext cx="25603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22677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4652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Cross-Filtering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filter other Power BI visuals on the same page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657600"/>
            <a:ext cx="2560320" cy="1417320"/>
          </a:xfrm>
          <a:prstGeom prst="rect">
            <a:avLst/>
          </a:prstGeom>
          <a:solidFill>
            <a:srgbClr val="1E1940"/>
          </a:solidFill>
          <a:ln w="6350">
            <a:solidFill>
              <a:srgbClr val="F97316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657600"/>
            <a:ext cx="256032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8221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68680" y="4206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Customizable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4480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Colors, fonts, line styles, subtitles — all configurable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520440" y="3657600"/>
            <a:ext cx="2560320" cy="1417320"/>
          </a:xfrm>
          <a:prstGeom prst="rect">
            <a:avLst/>
          </a:prstGeom>
          <a:solidFill>
            <a:srgbClr val="1E1940"/>
          </a:solidFill>
          <a:ln w="6350">
            <a:solidFill>
              <a:srgbClr val="06B6D4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20440" y="3657600"/>
            <a:ext cx="256032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0" y="38221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657600" y="4206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Labels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0" y="4480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storage info directly on nodes as compact badges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09360" y="3657600"/>
            <a:ext cx="2560320" cy="1417320"/>
          </a:xfrm>
          <a:prstGeom prst="rect">
            <a:avLst/>
          </a:prstGeom>
          <a:solidFill>
            <a:srgbClr val="1E1940"/>
          </a:solidFill>
          <a:ln w="6350">
            <a:solidFill>
              <a:srgbClr val="EC4899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09360" y="3657600"/>
            <a:ext cx="2560320" cy="36576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38221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🕐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446520" y="4206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Tracking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46520" y="4480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last refreshed timestamps in tooltips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Maps to Layers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column in your dataset becomes a layer. Rows define the connections between nodes.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50292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280160"/>
                <a:gridCol w="1280160"/>
                <a:gridCol w="12344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0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Bronze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0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0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06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4AA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Server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4AA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raw_orders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4AA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clean_orders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4AA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fact_sales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94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4AA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Feed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4AA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raw_products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4AA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clean_products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4AA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dim_products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94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4AA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Files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4AA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raw_customers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4AA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clean_customers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4AA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dim_customers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94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291072" y="1874520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Text 4"/>
          <p:cNvSpPr/>
          <p:nvPr/>
        </p:nvSpPr>
        <p:spPr>
          <a:xfrm>
            <a:off x="6126480" y="19933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172200" y="2331720"/>
            <a:ext cx="685800" cy="320040"/>
          </a:xfrm>
          <a:prstGeom prst="rect">
            <a:avLst/>
          </a:prstGeom>
          <a:solidFill>
            <a:srgbClr val="8B5CF6">
              <a:alpha val="12000"/>
            </a:srgbClr>
          </a:solidFill>
          <a:ln w="6350">
            <a:solidFill>
              <a:srgbClr val="8B5CF6">
                <a:alpha val="3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72200" y="233172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E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550" dirty="0"/>
          </a:p>
        </p:txBody>
      </p:sp>
      <p:sp>
        <p:nvSpPr>
          <p:cNvPr id="10" name="Shape 7"/>
          <p:cNvSpPr/>
          <p:nvPr/>
        </p:nvSpPr>
        <p:spPr>
          <a:xfrm>
            <a:off x="6172200" y="2743200"/>
            <a:ext cx="685800" cy="320040"/>
          </a:xfrm>
          <a:prstGeom prst="rect">
            <a:avLst/>
          </a:prstGeom>
          <a:solidFill>
            <a:srgbClr val="8B5CF6">
              <a:alpha val="12000"/>
            </a:srgbClr>
          </a:solidFill>
          <a:ln w="6350">
            <a:solidFill>
              <a:srgbClr val="8B5CF6">
                <a:alpha val="3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72200" y="274320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E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Feed</a:t>
            </a:r>
            <a:endParaRPr lang="en-US" sz="550" dirty="0"/>
          </a:p>
        </p:txBody>
      </p:sp>
      <p:sp>
        <p:nvSpPr>
          <p:cNvPr id="12" name="Shape 9"/>
          <p:cNvSpPr/>
          <p:nvPr/>
        </p:nvSpPr>
        <p:spPr>
          <a:xfrm>
            <a:off x="6172200" y="3154680"/>
            <a:ext cx="685800" cy="320040"/>
          </a:xfrm>
          <a:prstGeom prst="rect">
            <a:avLst/>
          </a:prstGeom>
          <a:solidFill>
            <a:srgbClr val="8B5CF6">
              <a:alpha val="12000"/>
            </a:srgbClr>
          </a:solidFill>
          <a:ln w="6350">
            <a:solidFill>
              <a:srgbClr val="8B5CF6">
                <a:alpha val="3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72200" y="315468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E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Files</a:t>
            </a:r>
            <a:endParaRPr lang="en-US" sz="550" dirty="0"/>
          </a:p>
        </p:txBody>
      </p:sp>
      <p:sp>
        <p:nvSpPr>
          <p:cNvPr id="14" name="Shape 11"/>
          <p:cNvSpPr/>
          <p:nvPr/>
        </p:nvSpPr>
        <p:spPr>
          <a:xfrm>
            <a:off x="7040880" y="187452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6876288" y="19933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6922008" y="2331720"/>
            <a:ext cx="685800" cy="320040"/>
          </a:xfrm>
          <a:prstGeom prst="rect">
            <a:avLst/>
          </a:prstGeom>
          <a:solidFill>
            <a:srgbClr val="3B82F6">
              <a:alpha val="12000"/>
            </a:srgbClr>
          </a:solidFill>
          <a:ln w="635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22008" y="233172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E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raw_orders</a:t>
            </a:r>
            <a:endParaRPr lang="en-US" sz="550" dirty="0"/>
          </a:p>
        </p:txBody>
      </p:sp>
      <p:sp>
        <p:nvSpPr>
          <p:cNvPr id="18" name="Shape 15"/>
          <p:cNvSpPr/>
          <p:nvPr/>
        </p:nvSpPr>
        <p:spPr>
          <a:xfrm>
            <a:off x="6922008" y="2743200"/>
            <a:ext cx="685800" cy="320040"/>
          </a:xfrm>
          <a:prstGeom prst="rect">
            <a:avLst/>
          </a:prstGeom>
          <a:solidFill>
            <a:srgbClr val="3B82F6">
              <a:alpha val="12000"/>
            </a:srgbClr>
          </a:solidFill>
          <a:ln w="635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22008" y="274320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E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raw_products</a:t>
            </a:r>
            <a:endParaRPr lang="en-US" sz="550" dirty="0"/>
          </a:p>
        </p:txBody>
      </p:sp>
      <p:sp>
        <p:nvSpPr>
          <p:cNvPr id="20" name="Shape 17"/>
          <p:cNvSpPr/>
          <p:nvPr/>
        </p:nvSpPr>
        <p:spPr>
          <a:xfrm>
            <a:off x="6922008" y="3154680"/>
            <a:ext cx="685800" cy="320040"/>
          </a:xfrm>
          <a:prstGeom prst="rect">
            <a:avLst/>
          </a:prstGeom>
          <a:solidFill>
            <a:srgbClr val="3B82F6">
              <a:alpha val="12000"/>
            </a:srgbClr>
          </a:solidFill>
          <a:ln w="635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22008" y="315468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E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raw_customers</a:t>
            </a:r>
            <a:endParaRPr lang="en-US" sz="550" dirty="0"/>
          </a:p>
        </p:txBody>
      </p:sp>
      <p:sp>
        <p:nvSpPr>
          <p:cNvPr id="22" name="Shape 19"/>
          <p:cNvSpPr/>
          <p:nvPr/>
        </p:nvSpPr>
        <p:spPr>
          <a:xfrm>
            <a:off x="7790688" y="1874520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3" name="Text 20"/>
          <p:cNvSpPr/>
          <p:nvPr/>
        </p:nvSpPr>
        <p:spPr>
          <a:xfrm>
            <a:off x="7626096" y="19933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7671816" y="2331720"/>
            <a:ext cx="685800" cy="320040"/>
          </a:xfrm>
          <a:prstGeom prst="rect">
            <a:avLst/>
          </a:prstGeom>
          <a:solidFill>
            <a:srgbClr val="22C55E">
              <a:alpha val="12000"/>
            </a:srgbClr>
          </a:solidFill>
          <a:ln w="6350">
            <a:solidFill>
              <a:srgbClr val="22C55E">
                <a:alpha val="35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71816" y="233172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E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clean_orders</a:t>
            </a:r>
            <a:endParaRPr lang="en-US" sz="550" dirty="0"/>
          </a:p>
        </p:txBody>
      </p:sp>
      <p:sp>
        <p:nvSpPr>
          <p:cNvPr id="26" name="Shape 23"/>
          <p:cNvSpPr/>
          <p:nvPr/>
        </p:nvSpPr>
        <p:spPr>
          <a:xfrm>
            <a:off x="7671816" y="2743200"/>
            <a:ext cx="685800" cy="320040"/>
          </a:xfrm>
          <a:prstGeom prst="rect">
            <a:avLst/>
          </a:prstGeom>
          <a:solidFill>
            <a:srgbClr val="22C55E">
              <a:alpha val="12000"/>
            </a:srgbClr>
          </a:solidFill>
          <a:ln w="6350">
            <a:solidFill>
              <a:srgbClr val="22C55E">
                <a:alpha val="35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71816" y="274320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E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clean_products</a:t>
            </a:r>
            <a:endParaRPr lang="en-US" sz="550" dirty="0"/>
          </a:p>
        </p:txBody>
      </p:sp>
      <p:sp>
        <p:nvSpPr>
          <p:cNvPr id="28" name="Shape 25"/>
          <p:cNvSpPr/>
          <p:nvPr/>
        </p:nvSpPr>
        <p:spPr>
          <a:xfrm>
            <a:off x="7671816" y="3154680"/>
            <a:ext cx="685800" cy="320040"/>
          </a:xfrm>
          <a:prstGeom prst="rect">
            <a:avLst/>
          </a:prstGeom>
          <a:solidFill>
            <a:srgbClr val="22C55E">
              <a:alpha val="12000"/>
            </a:srgbClr>
          </a:solidFill>
          <a:ln w="6350">
            <a:solidFill>
              <a:srgbClr val="22C55E">
                <a:alpha val="35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671816" y="315468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E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clean_customers</a:t>
            </a:r>
            <a:endParaRPr lang="en-US" sz="550" dirty="0"/>
          </a:p>
        </p:txBody>
      </p:sp>
      <p:sp>
        <p:nvSpPr>
          <p:cNvPr id="30" name="Shape 27"/>
          <p:cNvSpPr/>
          <p:nvPr/>
        </p:nvSpPr>
        <p:spPr>
          <a:xfrm>
            <a:off x="8540496" y="1874520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1" name="Text 28"/>
          <p:cNvSpPr/>
          <p:nvPr/>
        </p:nvSpPr>
        <p:spPr>
          <a:xfrm>
            <a:off x="8375904" y="19933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8421624" y="2331720"/>
            <a:ext cx="685800" cy="320040"/>
          </a:xfrm>
          <a:prstGeom prst="rect">
            <a:avLst/>
          </a:prstGeom>
          <a:solidFill>
            <a:srgbClr val="F97316">
              <a:alpha val="12000"/>
            </a:srgbClr>
          </a:solidFill>
          <a:ln w="6350">
            <a:solidFill>
              <a:srgbClr val="F97316">
                <a:alpha val="35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421624" y="233172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E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fact_sales</a:t>
            </a:r>
            <a:endParaRPr lang="en-US" sz="550" dirty="0"/>
          </a:p>
        </p:txBody>
      </p:sp>
      <p:sp>
        <p:nvSpPr>
          <p:cNvPr id="34" name="Shape 31"/>
          <p:cNvSpPr/>
          <p:nvPr/>
        </p:nvSpPr>
        <p:spPr>
          <a:xfrm>
            <a:off x="8421624" y="2743200"/>
            <a:ext cx="685800" cy="320040"/>
          </a:xfrm>
          <a:prstGeom prst="rect">
            <a:avLst/>
          </a:prstGeom>
          <a:solidFill>
            <a:srgbClr val="F97316">
              <a:alpha val="12000"/>
            </a:srgbClr>
          </a:solidFill>
          <a:ln w="6350">
            <a:solidFill>
              <a:srgbClr val="F97316">
                <a:alpha val="35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421624" y="274320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E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dim_products</a:t>
            </a:r>
            <a:endParaRPr lang="en-US" sz="550" dirty="0"/>
          </a:p>
        </p:txBody>
      </p:sp>
      <p:sp>
        <p:nvSpPr>
          <p:cNvPr id="36" name="Shape 33"/>
          <p:cNvSpPr/>
          <p:nvPr/>
        </p:nvSpPr>
        <p:spPr>
          <a:xfrm>
            <a:off x="8421624" y="3154680"/>
            <a:ext cx="685800" cy="320040"/>
          </a:xfrm>
          <a:prstGeom prst="rect">
            <a:avLst/>
          </a:prstGeom>
          <a:solidFill>
            <a:srgbClr val="F97316">
              <a:alpha val="12000"/>
            </a:srgbClr>
          </a:solidFill>
          <a:ln w="6350">
            <a:solidFill>
              <a:srgbClr val="F97316">
                <a:alpha val="35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421624" y="315468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E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dim_customers</a:t>
            </a:r>
            <a:endParaRPr lang="en-US" sz="550" dirty="0"/>
          </a:p>
        </p:txBody>
      </p:sp>
      <p:sp>
        <p:nvSpPr>
          <p:cNvPr id="38" name="Text 35"/>
          <p:cNvSpPr/>
          <p:nvPr/>
        </p:nvSpPr>
        <p:spPr>
          <a:xfrm>
            <a:off x="731520" y="33832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columns into the Layers field well in order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unique value becomes a node in its layer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define parent-child connections automatically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values are grouped — connections merge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Columns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43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rich metadata to any layer by creating columns with special suffixes.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2560320" cy="2926080"/>
          </a:xfrm>
          <a:prstGeom prst="rect">
            <a:avLst/>
          </a:prstGeom>
          <a:solidFill>
            <a:srgbClr val="1E1940"/>
          </a:solidFill>
          <a:ln w="6350">
            <a:solidFill>
              <a:srgbClr val="22C55E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91640"/>
            <a:ext cx="256032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💚  Health Status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2286000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22C55E">
              <a:alpha val="18000"/>
            </a:srgbClr>
          </a:solidFill>
          <a:ln w="635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286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__health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697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colored dot indicator to each node.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values: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33375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A8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green · healthy · ok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A8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yellow · warning · amber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A8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 · critical · error · stale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20440" y="1691640"/>
            <a:ext cx="2560320" cy="2926080"/>
          </a:xfrm>
          <a:prstGeom prst="rect">
            <a:avLst/>
          </a:prstGeom>
          <a:solidFill>
            <a:srgbClr val="1E1940"/>
          </a:solidFill>
          <a:ln w="6350">
            <a:solidFill>
              <a:srgbClr val="3B82F6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20440" y="1691640"/>
            <a:ext cx="25603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Refreshed Date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0" y="2286000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3B82F6">
              <a:alpha val="18000"/>
            </a:srgbClr>
          </a:solidFill>
          <a:ln w="635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2286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__refreshed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0" y="2697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last refresh timestamp in the tooltip on hover.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0" y="33375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A8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 date or timestamp value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A8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"2026-03-10 14:30"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09360" y="1691640"/>
            <a:ext cx="2560320" cy="2926080"/>
          </a:xfrm>
          <a:prstGeom prst="rect">
            <a:avLst/>
          </a:prstGeom>
          <a:solidFill>
            <a:srgbClr val="1E1940"/>
          </a:solidFill>
          <a:ln w="6350">
            <a:solidFill>
              <a:srgbClr val="06B6D4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1691640"/>
            <a:ext cx="256032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Storage Info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46520" y="2286000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06B6D4">
              <a:alpha val="18000"/>
            </a:srgbClr>
          </a:solidFill>
          <a:ln w="635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2286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__storage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46520" y="2697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a compact badge at bottom-left of each node.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46520" y="33375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A8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 text value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A8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"Azure SQL" or "2.4 GB"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0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If your layer column is "Bronze", create columns named  Bronze__health  Bronze__refreshed  Bronze__storage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Indicators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43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pipeline health at a glance — from individual nodes to layer-level summaries.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1847088"/>
            <a:ext cx="137160" cy="1371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Dot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965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shows a colored health dot directly on the element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2441448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331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 Detail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560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to see health status with a colored indicator in the tooltip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3035808"/>
            <a:ext cx="137160" cy="1371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2926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Summary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subtitles show aggregated counts: ●2 ●1 ●1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3630168"/>
            <a:ext cx="137160" cy="1371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3520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Mode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3749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lineage trace, health counts update to show only traced nodes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737360"/>
          <a:ext cx="329184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17373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0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0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Recognized Values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06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Green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4AAC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green, healthy, ok, good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94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AB3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AB3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Yellow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4AAC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yellow, warning, amber, degraded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94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4AAC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red, critical, error, down, stale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4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9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Lineage Tracing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4114800" cy="777240"/>
          </a:xfrm>
          <a:prstGeom prst="rect">
            <a:avLst/>
          </a:prstGeom>
          <a:solidFill>
            <a:srgbClr val="1E1940"/>
          </a:solidFill>
          <a:ln w="6350">
            <a:solidFill>
              <a:srgbClr val="8B5CF6">
                <a:alpha val="2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80160"/>
            <a:ext cx="54864" cy="777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71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3533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Click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627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full upstream &amp; downstream lineage.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 unrelated nodes. Filters other visuals.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4114800" cy="777240"/>
          </a:xfrm>
          <a:prstGeom prst="rect">
            <a:avLst/>
          </a:prstGeom>
          <a:solidFill>
            <a:srgbClr val="1E1940"/>
          </a:solidFill>
          <a:ln w="6350">
            <a:solidFill>
              <a:srgbClr val="3B82F6">
                <a:alpha val="2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19456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🖱️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2677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2542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immediate neighbors.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metadata tooltip below node.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3108960"/>
            <a:ext cx="4114800" cy="777240"/>
          </a:xfrm>
          <a:prstGeom prst="rect">
            <a:avLst/>
          </a:prstGeom>
          <a:solidFill>
            <a:srgbClr val="1E1940"/>
          </a:solidFill>
          <a:ln w="6350">
            <a:solidFill>
              <a:srgbClr val="22C55E">
                <a:alpha val="2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108960"/>
            <a:ext cx="54864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1821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Click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34564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context menu with "Copy Value".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"Copied!" toast notification.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4023360"/>
            <a:ext cx="4114800" cy="777240"/>
          </a:xfrm>
          <a:prstGeom prst="rect">
            <a:avLst/>
          </a:prstGeom>
          <a:solidFill>
            <a:srgbClr val="1E1940"/>
          </a:solidFill>
          <a:ln w="6350">
            <a:solidFill>
              <a:srgbClr val="F97316">
                <a:alpha val="2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023360"/>
            <a:ext cx="54864" cy="777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114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40965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Again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43708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Toggles trace off. Restores all nodes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clears cross-filter.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212080" y="1280160"/>
            <a:ext cx="3383280" cy="3474720"/>
          </a:xfrm>
          <a:prstGeom prst="rect">
            <a:avLst/>
          </a:prstGeom>
          <a:solidFill>
            <a:srgbClr val="1E1940"/>
          </a:solidFill>
          <a:ln w="6350">
            <a:solidFill>
              <a:srgbClr val="8B5CF6">
                <a:alpha val="2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94960" y="1417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Trace Algorithm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94960" y="187452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Identify clicked node &amp; its data rows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Upstream BFS — trace backward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through parent connections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Downstream BFS — trace forward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through child connections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Row-aware filtering prevents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fan-out through shared ancestors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Highlight connected set,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dim everything else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Options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34440"/>
            <a:ext cx="3840480" cy="1508760"/>
          </a:xfrm>
          <a:prstGeom prst="rect">
            <a:avLst/>
          </a:prstGeom>
          <a:solidFill>
            <a:srgbClr val="1E1940"/>
          </a:solidFill>
          <a:ln w="6350">
            <a:solidFill>
              <a:srgbClr val="8B5CF6">
                <a:alpha val="2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34440"/>
            <a:ext cx="38404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325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60020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Font Size (6-40px)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Font Size (6-40px)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Count Badge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Tooltip on Hover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Label Font Size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880360"/>
            <a:ext cx="3840480" cy="1106424"/>
          </a:xfrm>
          <a:prstGeom prst="rect">
            <a:avLst/>
          </a:prstGeom>
          <a:solidFill>
            <a:srgbClr val="1E1940"/>
          </a:solidFill>
          <a:ln w="6350">
            <a:solidFill>
              <a:srgbClr val="3B82F6">
                <a:alpha val="2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880360"/>
            <a:ext cx="38404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971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Lines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3246120"/>
            <a:ext cx="34747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Opacity (0.05 - 1.0)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Width (0.5 - 6px)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lines for skipped layers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234440"/>
            <a:ext cx="3840480" cy="1106424"/>
          </a:xfrm>
          <a:prstGeom prst="rect">
            <a:avLst/>
          </a:prstGeom>
          <a:solidFill>
            <a:srgbClr val="1E1940"/>
          </a:solidFill>
          <a:ln w="6350">
            <a:solidFill>
              <a:srgbClr val="22C55E">
                <a:alpha val="2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234440"/>
            <a:ext cx="384048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325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Colors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1600200"/>
            <a:ext cx="34747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individual color pickers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override per layer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palette fallback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880360"/>
            <a:ext cx="3840480" cy="1106424"/>
          </a:xfrm>
          <a:prstGeom prst="rect">
            <a:avLst/>
          </a:prstGeom>
          <a:solidFill>
            <a:srgbClr val="1E1940"/>
          </a:solidFill>
          <a:ln w="6350">
            <a:solidFill>
              <a:srgbClr val="F97316">
                <a:alpha val="2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880360"/>
            <a:ext cx="384048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971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Subtitles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3246120"/>
            <a:ext cx="34747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unit text per layer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"sources" instead of "tables"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count during trace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023360"/>
            <a:ext cx="3840480" cy="905256"/>
          </a:xfrm>
          <a:prstGeom prst="rect">
            <a:avLst/>
          </a:prstGeom>
          <a:solidFill>
            <a:srgbClr val="1E1940"/>
          </a:solidFill>
          <a:ln w="6350">
            <a:solidFill>
              <a:srgbClr val="06B6D4">
                <a:alpha val="2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4023360"/>
            <a:ext cx="38404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114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Columns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4389120"/>
            <a:ext cx="3474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per layer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browser / Copy / Both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4023360"/>
            <a:ext cx="3840480" cy="905256"/>
          </a:xfrm>
          <a:prstGeom prst="rect">
            <a:avLst/>
          </a:prstGeom>
          <a:solidFill>
            <a:srgbClr val="1E1940"/>
          </a:solidFill>
          <a:ln w="6350">
            <a:solidFill>
              <a:srgbClr val="EC4899">
                <a:alpha val="2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4023360"/>
            <a:ext cx="3840480" cy="36576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4114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83480" y="4389120"/>
            <a:ext cx="3474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Cross-Filter on Click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Click Action dropdown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Design &amp; Dark Theme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Color Palette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9594B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9659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8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#9594B8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1371600" y="1600200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19659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8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#3B82F6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2011680" y="1600200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1874520" y="19659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8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#22C55E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2651760" y="1600200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D49A2E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19659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8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#D49A2E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3291840" y="1600200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3154680" y="19659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8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#F97316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3931920" y="1600200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3794760" y="19659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8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#8B5CF6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731520" y="2103120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8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#06B6D4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1371600" y="2103120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1234440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8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#EF4444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2011680" y="2103120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EC4899"/>
          </a:solidFill>
          <a:ln/>
        </p:spPr>
      </p:sp>
      <p:sp>
        <p:nvSpPr>
          <p:cNvPr id="22" name="Text 20"/>
          <p:cNvSpPr/>
          <p:nvPr/>
        </p:nvSpPr>
        <p:spPr>
          <a:xfrm>
            <a:off x="1874520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8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#EC4899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2651760" y="2103120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84CC16"/>
          </a:solidFill>
          <a:ln/>
        </p:spPr>
      </p:sp>
      <p:sp>
        <p:nvSpPr>
          <p:cNvPr id="24" name="Text 22"/>
          <p:cNvSpPr/>
          <p:nvPr/>
        </p:nvSpPr>
        <p:spPr>
          <a:xfrm>
            <a:off x="2514600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8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#84CC16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3291840" y="2103120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3154680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8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#F59E0B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3931920" y="2103120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3794760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8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#6366F1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484632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Highlights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46320" y="155448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gradient background (135° multi-stop)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Radial glow overlays for depth effect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Semi-transparent node backgrounds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transitions on all interactions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scrollbars with purple tint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tooltip fade-in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Bezier curve connection lines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 effects on health dots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31520" y="32461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Font: </a:t>
            </a:r>
            <a:pPr indent="0" marL="0">
              <a:buNone/>
            </a:pPr>
            <a:r>
              <a:rPr lang="en-US" sz="1100" dirty="0">
                <a:solidFill>
                  <a:srgbClr val="8A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Segoe UI with system fallbacks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Headers: </a:t>
            </a:r>
            <a:pPr indent="0" marL="0">
              <a:buNone/>
            </a:pPr>
            <a:r>
              <a:rPr lang="en-US" sz="1100" dirty="0">
                <a:solidFill>
                  <a:srgbClr val="8A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Uppercase, 1px letter-spacing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B4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Nodes: </a:t>
            </a:r>
            <a:pPr indent="0" marL="0">
              <a:buNone/>
            </a:pPr>
            <a:r>
              <a:rPr lang="en-US" sz="1100" dirty="0">
                <a:solidFill>
                  <a:srgbClr val="8A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2 lines with ellipsis overflow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07592"/>
            <a:ext cx="457200" cy="457200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07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463040" y="1234440"/>
            <a:ext cx="6949440" cy="777240"/>
          </a:xfrm>
          <a:prstGeom prst="rect">
            <a:avLst/>
          </a:prstGeom>
          <a:solidFill>
            <a:srgbClr val="1E1940"/>
          </a:solidFill>
          <a:ln w="6350">
            <a:solidFill>
              <a:srgbClr val="8B5CF6">
                <a:alpha val="2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63040" y="1234440"/>
            <a:ext cx="45720" cy="777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1691640" y="13075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Visual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91640" y="158191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pane &gt; ··· &gt; Import a visual from a file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 DataLineageFlow_v6_0_0.pbiviz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249424"/>
            <a:ext cx="457200" cy="45720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249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463040" y="2176272"/>
            <a:ext cx="6949440" cy="777240"/>
          </a:xfrm>
          <a:prstGeom prst="rect">
            <a:avLst/>
          </a:prstGeom>
          <a:solidFill>
            <a:srgbClr val="1E1940"/>
          </a:solidFill>
          <a:ln w="6350">
            <a:solidFill>
              <a:srgbClr val="3B82F6">
                <a:alpha val="2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463040" y="2176272"/>
            <a:ext cx="45720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1691640" y="224942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Layer Columns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91640" y="252374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your data columns into the Layers field well.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matters: left = upstream, right = downstream.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3191256"/>
            <a:ext cx="457200" cy="457200"/>
          </a:xfrm>
          <a:prstGeom prst="ellipse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463040" y="3118104"/>
            <a:ext cx="6949440" cy="777240"/>
          </a:xfrm>
          <a:prstGeom prst="rect">
            <a:avLst/>
          </a:prstGeom>
          <a:solidFill>
            <a:srgbClr val="1E1940"/>
          </a:solidFill>
          <a:ln w="6350">
            <a:solidFill>
              <a:srgbClr val="22C55E">
                <a:alpha val="2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463040" y="3118104"/>
            <a:ext cx="45720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1691640" y="319125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Metadata (Optional)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91640" y="3465576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columns with __health, __refreshed, or __storage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to enrich nodes with metadata.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" y="4133088"/>
            <a:ext cx="457200" cy="457200"/>
          </a:xfrm>
          <a:prstGeom prst="ellipse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463040" y="4059936"/>
            <a:ext cx="6949440" cy="777240"/>
          </a:xfrm>
          <a:prstGeom prst="rect">
            <a:avLst/>
          </a:prstGeom>
          <a:solidFill>
            <a:srgbClr val="1E1940"/>
          </a:solidFill>
          <a:ln w="6350">
            <a:solidFill>
              <a:srgbClr val="F97316">
                <a:alpha val="2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463040" y="4059936"/>
            <a:ext cx="45720" cy="777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1691640" y="413308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 in Format Pane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691640" y="440740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colors, fonts, line styles, subtitles, and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settings to match your report theme.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457200"/>
            <a:ext cx="6400800" cy="6400800"/>
          </a:xfrm>
          <a:prstGeom prst="ellipse">
            <a:avLst/>
          </a:prstGeom>
          <a:solidFill>
            <a:srgbClr val="8B5CF6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1828800"/>
            <a:ext cx="4572000" cy="4572000"/>
          </a:xfrm>
          <a:prstGeom prst="ellipse">
            <a:avLst/>
          </a:prstGeom>
          <a:solidFill>
            <a:srgbClr val="3B82F6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 Flow v6.1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0" y="3108960"/>
            <a:ext cx="3657600" cy="411480"/>
          </a:xfrm>
          <a:prstGeom prst="roundRect">
            <a:avLst>
              <a:gd name="adj" fmla="val 13333"/>
            </a:avLst>
          </a:prstGeom>
          <a:solidFill>
            <a:srgbClr val="8B5CF6">
              <a:alpha val="15000"/>
            </a:srgbClr>
          </a:solidFill>
          <a:ln w="635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2743200" y="3108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github.com/BharathsDev29/dataLineageFlow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Bharath 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DataLineageFlow - Power BI Custom Visual</dc:title>
  <dc:subject>PptxGenJS Presentation</dc:subject>
  <dc:creator>Bharath S.</dc:creator>
  <cp:lastModifiedBy>Bharath S.</cp:lastModifiedBy>
  <cp:revision>1</cp:revision>
  <dcterms:created xsi:type="dcterms:W3CDTF">2026-03-11T04:22:30Z</dcterms:created>
  <dcterms:modified xsi:type="dcterms:W3CDTF">2026-03-11T04:22:30Z</dcterms:modified>
</cp:coreProperties>
</file>